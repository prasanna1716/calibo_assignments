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UPI Txns</c:v>
                </c:pt>
              </c:strCache>
            </c:strRef>
          </c:tx>
          <c:spPr>
            <a:solidFill>
              <a:srgbClr val="00D4C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0.5</c:v>
                </c:pt>
                <c:pt idx="1">
                  <c:v>1.1</c:v>
                </c:pt>
                <c:pt idx="2">
                  <c:v>2.2</c:v>
                </c:pt>
                <c:pt idx="3">
                  <c:v>3.9</c:v>
                </c:pt>
                <c:pt idx="4">
                  <c:v>7.4</c:v>
                </c:pt>
                <c:pt idx="5">
                  <c:v>11.6</c:v>
                </c:pt>
                <c:pt idx="6">
                  <c:v>14.1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4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8C4D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3A5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3" name="Shape 1"/>
          <p:cNvSpPr/>
          <p:nvPr/>
        </p:nvSpPr>
        <p:spPr>
          <a:xfrm>
            <a:off x="6766560" y="-1188720"/>
            <a:ext cx="3474720" cy="3474720"/>
          </a:xfrm>
          <a:prstGeom prst="ellipse">
            <a:avLst/>
          </a:prstGeom>
          <a:solidFill>
            <a:srgbClr val="00D4C8">
              <a:alpha val="12000"/>
            </a:srgbClr>
          </a:solidFill>
          <a:ln w="12700">
            <a:solidFill>
              <a:srgbClr val="00D4C8">
                <a:alpha val="3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-548640"/>
            <a:ext cx="2286000" cy="2286000"/>
          </a:xfrm>
          <a:prstGeom prst="ellipse">
            <a:avLst/>
          </a:prstGeom>
          <a:solidFill>
            <a:srgbClr val="00D4C8">
              <a:alpha val="22000"/>
            </a:srgbClr>
          </a:solidFill>
          <a:ln w="12700">
            <a:solidFill>
              <a:srgbClr val="00D4C8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"/>
            <a:ext cx="1554480" cy="329184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1148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F35"/>
                </a:solidFill>
              </a:rPr>
              <a:t>🇮🇳  FINTECH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Revolution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The UPI Story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457200" y="2944368"/>
            <a:ext cx="3657600" cy="45720"/>
          </a:xfrm>
          <a:prstGeom prst="rect">
            <a:avLst/>
          </a:prstGeom>
          <a:solidFill>
            <a:srgbClr val="FFB83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09067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Lakshmi Prasanna Bejjipurapu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Calibo AI Academy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" y="3858768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March 2026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0" y="2377440"/>
            <a:ext cx="2194560" cy="219456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0" y="2542032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₹20T+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583680" y="3163824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UPI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(2025)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3794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🚀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955280" y="4846320"/>
            <a:ext cx="1005840" cy="256032"/>
          </a:xfrm>
          <a:prstGeom prst="rect">
            <a:avLst/>
          </a:prstGeom>
          <a:solidFill>
            <a:srgbClr val="00C6B8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4846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/ 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Fintech?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2412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"Finance + Technology = Banking without the bank queue 😄"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463040"/>
            <a:ext cx="4160520" cy="150876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63040"/>
            <a:ext cx="64008" cy="150876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💳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188720" y="16093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Payments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0299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anyone, anywhere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seconds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6320" y="1463040"/>
            <a:ext cx="4160520" cy="150876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463040"/>
            <a:ext cx="64008" cy="150876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13" name="Text 11"/>
          <p:cNvSpPr/>
          <p:nvPr/>
        </p:nvSpPr>
        <p:spPr>
          <a:xfrm>
            <a:off x="5010912" y="15727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🏦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715000" y="160934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Neo-Banking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15000" y="202996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banking services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your phone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20040" y="3154680"/>
            <a:ext cx="4160520" cy="150876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154680"/>
            <a:ext cx="64008" cy="150876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3264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188720" y="33009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Automation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372160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loans, fraud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detection, chatbots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46320" y="3154680"/>
            <a:ext cx="4160520" cy="150876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3154680"/>
            <a:ext cx="64008" cy="150876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23" name="Text 21"/>
          <p:cNvSpPr/>
          <p:nvPr/>
        </p:nvSpPr>
        <p:spPr>
          <a:xfrm>
            <a:off x="5010912" y="32644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715000" y="3300984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WealthTech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715000" y="3721608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stocks &amp; MFs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just ₹100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55280" y="4846320"/>
            <a:ext cx="1005840" cy="256032"/>
          </a:xfrm>
          <a:prstGeom prst="rect">
            <a:avLst/>
          </a:prstGeom>
          <a:solidFill>
            <a:srgbClr val="00C6B8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4846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 of Payments in India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697480"/>
            <a:ext cx="8229600" cy="54864"/>
          </a:xfrm>
          <a:prstGeom prst="rect">
            <a:avLst/>
          </a:prstGeom>
          <a:solidFill>
            <a:srgbClr val="A8C4D8">
              <a:alpha val="3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1560" y="2331720"/>
            <a:ext cx="749808" cy="749808"/>
          </a:xfrm>
          <a:prstGeom prst="ellipse">
            <a:avLst/>
          </a:prstGeom>
          <a:solidFill>
            <a:srgbClr val="A8C4D8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3317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" y="1051560"/>
            <a:ext cx="1965960" cy="1115568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051560"/>
            <a:ext cx="1965960" cy="54864"/>
          </a:xfrm>
          <a:prstGeom prst="rect">
            <a:avLst/>
          </a:prstGeom>
          <a:solidFill>
            <a:srgbClr val="A8C4D8"/>
          </a:solidFill>
          <a:ln/>
        </p:spPr>
      </p:sp>
      <p:sp>
        <p:nvSpPr>
          <p:cNvPr id="10" name="Text 8"/>
          <p:cNvSpPr/>
          <p:nvPr/>
        </p:nvSpPr>
        <p:spPr>
          <a:xfrm>
            <a:off x="411480" y="1078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Pre-2000s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33502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is King 💵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1691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notes,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 &amp; bank queues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" y="31821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notes,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ledgers &amp; bank queues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2331720"/>
            <a:ext cx="749808" cy="749808"/>
          </a:xfrm>
          <a:prstGeom prst="ellipse">
            <a:avLst/>
          </a:prstGeom>
          <a:solidFill>
            <a:srgbClr val="5B9BD5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0" y="23317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2560320" y="1051560"/>
            <a:ext cx="1965960" cy="1115568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560320" y="1051560"/>
            <a:ext cx="1965960" cy="54864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1078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9B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2000–2010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133502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Revolution 💳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60320" y="1691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ATMs, debit/credit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net banking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487168" y="31821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ATMs, debit/credit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cards, net banking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49240" y="2331720"/>
            <a:ext cx="749808" cy="749808"/>
          </a:xfrm>
          <a:prstGeom prst="ellipse">
            <a:avLst/>
          </a:prstGeom>
          <a:solidFill>
            <a:srgbClr val="FFB830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23317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709160" y="1051560"/>
            <a:ext cx="1965960" cy="1115568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1051560"/>
            <a:ext cx="1965960" cy="54864"/>
          </a:xfrm>
          <a:prstGeom prst="rect">
            <a:avLst/>
          </a:prstGeom>
          <a:solidFill>
            <a:srgbClr val="FFB830"/>
          </a:solidFill>
          <a:ln/>
        </p:spPr>
      </p:sp>
      <p:sp>
        <p:nvSpPr>
          <p:cNvPr id="26" name="Text 24"/>
          <p:cNvSpPr/>
          <p:nvPr/>
        </p:nvSpPr>
        <p:spPr>
          <a:xfrm>
            <a:off x="4709160" y="1078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2010–2016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9160" y="133502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Wallets 📱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709160" y="1691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Paytm, MobiKwik,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IMPS launched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36008" y="31821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Paytm, MobiKwik,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IMPS launched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498080" y="2331720"/>
            <a:ext cx="749808" cy="749808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2331720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6858000" y="1051560"/>
            <a:ext cx="1965960" cy="1115568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858000" y="1051560"/>
            <a:ext cx="1965960" cy="54864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34" name="Text 32"/>
          <p:cNvSpPr/>
          <p:nvPr/>
        </p:nvSpPr>
        <p:spPr>
          <a:xfrm>
            <a:off x="6858000" y="1078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2016–Now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133502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Era ⚡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858000" y="16916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free, 24/7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for all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784848" y="318211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Instant, free, 24/7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transfers for all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4805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leapfrogged from cash → UPI, skipping the "card era" most countries went through 🏆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955280" y="4846320"/>
            <a:ext cx="1005840" cy="256032"/>
          </a:xfrm>
          <a:prstGeom prst="rect">
            <a:avLst/>
          </a:prstGeom>
          <a:solidFill>
            <a:srgbClr val="00C6B8"/>
          </a:solidFill>
          <a:ln/>
        </p:spPr>
      </p:sp>
      <p:sp>
        <p:nvSpPr>
          <p:cNvPr id="41" name="Text 39"/>
          <p:cNvSpPr/>
          <p:nvPr/>
        </p:nvSpPr>
        <p:spPr>
          <a:xfrm>
            <a:off x="7955280" y="4846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UPI Revolution ⚡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51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UPI special?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4206240" cy="420624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Built by NPCI (Government-backed)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4206240" cy="420624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1168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Instant 24/7 transfers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4206240" cy="420624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1460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🆓  Zero transaction fees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" y="3017520"/>
            <a:ext cx="4206240" cy="420624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01752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📲  Works via any banking app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65760" y="3520440"/>
            <a:ext cx="4206240" cy="420624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520440"/>
            <a:ext cx="3977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Now expanding globally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0" y="1005840"/>
            <a:ext cx="3749040" cy="1078992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0" y="1005840"/>
            <a:ext cx="82296" cy="1078992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1097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14B+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5212080" y="16459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Transactions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0" y="2267712"/>
            <a:ext cx="3749040" cy="1078992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0" y="2267712"/>
            <a:ext cx="82296" cy="1078992"/>
          </a:xfrm>
          <a:prstGeom prst="rect">
            <a:avLst/>
          </a:prstGeom>
          <a:solidFill>
            <a:srgbClr val="FFB830"/>
          </a:solidFill>
          <a:ln/>
        </p:spPr>
      </p:sp>
      <p:sp>
        <p:nvSpPr>
          <p:cNvPr id="22" name="Text 20"/>
          <p:cNvSpPr/>
          <p:nvPr/>
        </p:nvSpPr>
        <p:spPr>
          <a:xfrm>
            <a:off x="5212080" y="235915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300M+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5212080" y="29077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29200" y="3529584"/>
            <a:ext cx="3749040" cy="1078992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3529584"/>
            <a:ext cx="82296" cy="107899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6" name="Text 24"/>
          <p:cNvSpPr/>
          <p:nvPr/>
        </p:nvSpPr>
        <p:spPr>
          <a:xfrm>
            <a:off x="5212080" y="3621024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5212080" y="416966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on UPI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65760" y="420624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Transaction Growth (Billions/month)</a:t>
            </a:r>
            <a:endParaRPr lang="en-US" sz="11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365760" y="4407408"/>
          <a:ext cx="4297680" cy="640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7955280" y="4846320"/>
            <a:ext cx="1005840" cy="256032"/>
          </a:xfrm>
          <a:prstGeom prst="rect">
            <a:avLst/>
          </a:prstGeom>
          <a:solidFill>
            <a:srgbClr val="00C6B8"/>
          </a:solidFill>
          <a:ln/>
        </p:spPr>
      </p:sp>
      <p:sp>
        <p:nvSpPr>
          <p:cNvPr id="31" name="Text 28"/>
          <p:cNvSpPr/>
          <p:nvPr/>
        </p:nvSpPr>
        <p:spPr>
          <a:xfrm>
            <a:off x="7955280" y="4846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The Brain Behind Fintech 🤖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388620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2743200" cy="54864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143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🛡️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20040" y="17190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94360" y="2212848"/>
            <a:ext cx="2194560" cy="36576"/>
          </a:xfrm>
          <a:prstGeom prst="rect">
            <a:avLst/>
          </a:prstGeom>
          <a:solidFill>
            <a:srgbClr val="FB7185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" y="235915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1000s of txns/sec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4632" y="288950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suspicious patterns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4632" y="341985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fraud in real-time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" y="395020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95%+ accuracy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200400" y="1051560"/>
            <a:ext cx="2743200" cy="388620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51560"/>
            <a:ext cx="2743200" cy="54864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143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200400" y="17190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474720" y="2212848"/>
            <a:ext cx="2194560" cy="36576"/>
          </a:xfrm>
          <a:prstGeom prst="rect">
            <a:avLst/>
          </a:prstGeom>
          <a:solidFill>
            <a:srgbClr val="00D4C8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364992" y="235915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credit scoring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364992" y="288950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recommendations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364992" y="341985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insights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364992" y="395020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offers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080760" y="1051560"/>
            <a:ext cx="2743200" cy="388620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0760" y="1051560"/>
            <a:ext cx="2743200" cy="54864"/>
          </a:xfrm>
          <a:prstGeom prst="rect">
            <a:avLst/>
          </a:prstGeom>
          <a:solidFill>
            <a:srgbClr val="FFB830"/>
          </a:solidFill>
          <a:ln/>
        </p:spPr>
      </p:sp>
      <p:sp>
        <p:nvSpPr>
          <p:cNvPr id="25" name="Text 23"/>
          <p:cNvSpPr/>
          <p:nvPr/>
        </p:nvSpPr>
        <p:spPr>
          <a:xfrm>
            <a:off x="6080760" y="11430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080760" y="171907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6355080" y="2212848"/>
            <a:ext cx="2194560" cy="36576"/>
          </a:xfrm>
          <a:prstGeom prst="rect">
            <a:avLst/>
          </a:prstGeom>
          <a:solidFill>
            <a:srgbClr val="FFB830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6245352" y="2359152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in minutes not days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245352" y="2889504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loan approvals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45352" y="3419856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AI chatbots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245352" y="3950208"/>
            <a:ext cx="2450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5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Paperless banking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955280" y="4846320"/>
            <a:ext cx="1005840" cy="256032"/>
          </a:xfrm>
          <a:prstGeom prst="rect">
            <a:avLst/>
          </a:prstGeom>
          <a:solidFill>
            <a:srgbClr val="00C6B8"/>
          </a:solidFill>
          <a:ln/>
        </p:spPr>
      </p:sp>
      <p:sp>
        <p:nvSpPr>
          <p:cNvPr id="33" name="Text 31"/>
          <p:cNvSpPr/>
          <p:nvPr/>
        </p:nvSpPr>
        <p:spPr>
          <a:xfrm>
            <a:off x="7955280" y="4846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/ 9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Fintech Ecosystem 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1024128"/>
            <a:ext cx="4160520" cy="1664208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24128"/>
            <a:ext cx="4160520" cy="54864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  Payments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59105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 ·  Google Pay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Paytm  ·  BHIM  ·  Amazon Pay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024128"/>
            <a:ext cx="4160520" cy="1664208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24128"/>
            <a:ext cx="4160520" cy="54864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1155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Lending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1591056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KreditBee  ·  MoneyTap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  ·  ZestMoney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040" y="2871216"/>
            <a:ext cx="4160520" cy="1664208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2871216"/>
            <a:ext cx="4160520" cy="54864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6265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WealthTech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" y="343814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Zerodha  ·  Groww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Upstox  ·  INDmoney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54880" y="2871216"/>
            <a:ext cx="4160520" cy="1664208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2871216"/>
            <a:ext cx="4160520" cy="54864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96265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InsurTech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92040" y="3438144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Acko  ·  PolicyBazaar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Ditto Insurance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0040" y="4681728"/>
            <a:ext cx="2651760" cy="365760"/>
          </a:xfrm>
          <a:prstGeom prst="rect">
            <a:avLst/>
          </a:prstGeom>
          <a:solidFill>
            <a:srgbClr val="008B82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46817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2,100+  Fintech Startups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00400" y="4681728"/>
            <a:ext cx="2651760" cy="365760"/>
          </a:xfrm>
          <a:prstGeom prst="rect">
            <a:avLst/>
          </a:prstGeom>
          <a:solidFill>
            <a:srgbClr val="008B82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46817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$14B  Funding in 2023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80760" y="4681728"/>
            <a:ext cx="2651760" cy="365760"/>
          </a:xfrm>
          <a:prstGeom prst="rect">
            <a:avLst/>
          </a:prstGeom>
          <a:solidFill>
            <a:srgbClr val="008B82"/>
          </a:solidFill>
          <a:ln/>
        </p:spPr>
      </p:sp>
      <p:sp>
        <p:nvSpPr>
          <p:cNvPr id="26" name="Text 24"/>
          <p:cNvSpPr/>
          <p:nvPr/>
        </p:nvSpPr>
        <p:spPr>
          <a:xfrm>
            <a:off x="6080760" y="468172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Global Fintech Hub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955280" y="4846320"/>
            <a:ext cx="1005840" cy="256032"/>
          </a:xfrm>
          <a:prstGeom prst="rect">
            <a:avLst/>
          </a:prstGeom>
          <a:solidFill>
            <a:srgbClr val="00C6B8"/>
          </a:solidFill>
          <a:ln/>
        </p:spPr>
      </p:sp>
      <p:sp>
        <p:nvSpPr>
          <p:cNvPr id="28" name="Text 26"/>
          <p:cNvSpPr/>
          <p:nvPr/>
        </p:nvSpPr>
        <p:spPr>
          <a:xfrm>
            <a:off x="7955280" y="4846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6 / 9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Digital Payments ⚠️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41248"/>
            <a:ext cx="9144000" cy="54864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9264"/>
            <a:ext cx="8595360" cy="804672"/>
          </a:xfrm>
          <a:prstGeom prst="rect">
            <a:avLst/>
          </a:prstGeom>
          <a:solidFill>
            <a:srgbClr val="1222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84048" y="1060704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024128" y="1042416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24128" y="13716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phishing, SIM-swap fraud &amp; data breaches target millions of users daily.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0241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271016"/>
            <a:ext cx="2377440" cy="18288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9360" y="1271016"/>
            <a:ext cx="2139696" cy="18288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48132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874520"/>
            <a:ext cx="8595360" cy="804672"/>
          </a:xfrm>
          <a:prstGeom prst="rect">
            <a:avLst/>
          </a:prstGeom>
          <a:solidFill>
            <a:srgbClr val="1222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" y="19659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📡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024128" y="1947672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24128" y="22768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Festival seasons crash payment servers. Can the infrastructure handle 10x growth?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19293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09360" y="2176272"/>
            <a:ext cx="2377440" cy="18288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19" name="Shape 17"/>
          <p:cNvSpPr/>
          <p:nvPr/>
        </p:nvSpPr>
        <p:spPr>
          <a:xfrm>
            <a:off x="6309360" y="2176272"/>
            <a:ext cx="1783080" cy="18288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38658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74320" y="2779776"/>
            <a:ext cx="8595360" cy="804672"/>
          </a:xfrm>
          <a:prstGeom prst="rect">
            <a:avLst/>
          </a:prstGeom>
          <a:solidFill>
            <a:srgbClr val="1222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4048" y="2871216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🌾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024128" y="2852928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Divide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24128" y="318211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40%+ of India is still unbanked or digitally excluded — low literacy &amp; no internet.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283464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3081528"/>
            <a:ext cx="2377440" cy="18288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27" name="Shape 25"/>
          <p:cNvSpPr/>
          <p:nvPr/>
        </p:nvSpPr>
        <p:spPr>
          <a:xfrm>
            <a:off x="6309360" y="3081528"/>
            <a:ext cx="1664208" cy="18288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32918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74320" y="3685032"/>
            <a:ext cx="8595360" cy="804672"/>
          </a:xfrm>
          <a:prstGeom prst="rect">
            <a:avLst/>
          </a:prstGeom>
          <a:solidFill>
            <a:srgbClr val="122235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84048" y="3776472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📜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1024128" y="3758184"/>
            <a:ext cx="5029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Regulation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24128" y="408736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Evolving RBI regulations, data localization laws &amp; cross-border payment hurdles.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09360" y="373989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09360" y="3986784"/>
            <a:ext cx="2377440" cy="182880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35" name="Shape 33"/>
          <p:cNvSpPr/>
          <p:nvPr/>
        </p:nvSpPr>
        <p:spPr>
          <a:xfrm>
            <a:off x="6309360" y="3986784"/>
            <a:ext cx="1426464" cy="18288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41970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4320" y="4626864"/>
            <a:ext cx="8595360" cy="329184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8" name="Text 36"/>
          <p:cNvSpPr/>
          <p:nvPr/>
        </p:nvSpPr>
        <p:spPr>
          <a:xfrm>
            <a:off x="365760" y="46268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“These aren’t just tech problems — they’re trust problems. Solve trust, you solve fintech.”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7955280" y="4846320"/>
            <a:ext cx="1005840" cy="256032"/>
          </a:xfrm>
          <a:prstGeom prst="rect">
            <a:avLst/>
          </a:prstGeom>
          <a:solidFill>
            <a:srgbClr val="00C6B8"/>
          </a:solidFill>
          <a:ln/>
        </p:spPr>
      </p:sp>
      <p:sp>
        <p:nvSpPr>
          <p:cNvPr id="40" name="Text 38"/>
          <p:cNvSpPr/>
          <p:nvPr/>
        </p:nvSpPr>
        <p:spPr>
          <a:xfrm>
            <a:off x="7955280" y="4846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7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Solution as a Fintech Leader 💡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841248"/>
            <a:ext cx="9144000" cy="45720"/>
          </a:xfrm>
          <a:prstGeom prst="rect">
            <a:avLst/>
          </a:prstGeom>
          <a:solidFill>
            <a:srgbClr val="FFB830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60120"/>
            <a:ext cx="8595360" cy="329184"/>
          </a:xfrm>
          <a:prstGeom prst="rect">
            <a:avLst/>
          </a:prstGeom>
          <a:solidFill>
            <a:srgbClr val="1E3A52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960120"/>
            <a:ext cx="64008" cy="329184"/>
          </a:xfrm>
          <a:prstGeom prst="rect">
            <a:avLst/>
          </a:prstGeom>
          <a:solidFill>
            <a:srgbClr val="FFB83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 handles 14B+ txns/month. One failure = national crisis. My 4-pillar framework to make it unbreakable: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4160520" cy="173736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371600"/>
            <a:ext cx="4160520" cy="54864"/>
          </a:xfrm>
          <a:prstGeom prst="rect">
            <a:avLst/>
          </a:prstGeom>
          <a:solidFill>
            <a:srgbClr val="00D4C8"/>
          </a:solidFill>
          <a:ln/>
        </p:spPr>
      </p:sp>
      <p:sp>
        <p:nvSpPr>
          <p:cNvPr id="10" name="Shape 8"/>
          <p:cNvSpPr/>
          <p:nvPr/>
        </p:nvSpPr>
        <p:spPr>
          <a:xfrm>
            <a:off x="393192" y="1463040"/>
            <a:ext cx="420624" cy="420624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11" name="Text 9"/>
          <p:cNvSpPr/>
          <p:nvPr/>
        </p:nvSpPr>
        <p:spPr>
          <a:xfrm>
            <a:off x="393192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96112" y="14813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Adaptive AI Layer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93192" y="1920240"/>
            <a:ext cx="1737360" cy="201168"/>
          </a:xfrm>
          <a:prstGeom prst="rect">
            <a:avLst/>
          </a:prstGeom>
          <a:solidFill>
            <a:srgbClr val="00D4C8">
              <a:alpha val="1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" y="1920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&amp; Prevent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" y="2194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with 90%+ accuracy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93192" y="2487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Auto-scale servers before traffic spikes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" y="27797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 via fastest bank node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17720" y="1371600"/>
            <a:ext cx="4160520" cy="173736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1371600"/>
            <a:ext cx="4160520" cy="54864"/>
          </a:xfrm>
          <a:prstGeom prst="rect">
            <a:avLst/>
          </a:prstGeom>
          <a:solidFill>
            <a:srgbClr val="FFB830"/>
          </a:solidFill>
          <a:ln/>
        </p:spPr>
      </p:sp>
      <p:sp>
        <p:nvSpPr>
          <p:cNvPr id="20" name="Shape 18"/>
          <p:cNvSpPr/>
          <p:nvPr/>
        </p:nvSpPr>
        <p:spPr>
          <a:xfrm>
            <a:off x="4736592" y="1463040"/>
            <a:ext cx="420624" cy="420624"/>
          </a:xfrm>
          <a:prstGeom prst="ellipse">
            <a:avLst/>
          </a:prstGeom>
          <a:solidFill>
            <a:srgbClr val="FFB830"/>
          </a:solidFill>
          <a:ln/>
        </p:spPr>
      </p:sp>
      <p:sp>
        <p:nvSpPr>
          <p:cNvPr id="21" name="Text 19"/>
          <p:cNvSpPr/>
          <p:nvPr/>
        </p:nvSpPr>
        <p:spPr>
          <a:xfrm>
            <a:off x="4736592" y="1463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9512" y="14813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Edge Computing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36592" y="1920240"/>
            <a:ext cx="1737360" cy="201168"/>
          </a:xfrm>
          <a:prstGeom prst="rect">
            <a:avLst/>
          </a:prstGeom>
          <a:solidFill>
            <a:srgbClr val="FFB830">
              <a:alpha val="18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4736592" y="192024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 Processing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36592" y="21945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nodes — not central servers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36592" y="24871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latency &amp; server overload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736592" y="277977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region fails — others keep working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3236976"/>
            <a:ext cx="4160520" cy="173736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236976"/>
            <a:ext cx="4160520" cy="54864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0" name="Shape 28"/>
          <p:cNvSpPr/>
          <p:nvPr/>
        </p:nvSpPr>
        <p:spPr>
          <a:xfrm>
            <a:off x="393192" y="3328416"/>
            <a:ext cx="420624" cy="420624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31" name="Text 29"/>
          <p:cNvSpPr/>
          <p:nvPr/>
        </p:nvSpPr>
        <p:spPr>
          <a:xfrm>
            <a:off x="393192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96112" y="33467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Break the Monopoly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93192" y="3785616"/>
            <a:ext cx="1737360" cy="201168"/>
          </a:xfrm>
          <a:prstGeom prst="rect">
            <a:avLst/>
          </a:prstGeom>
          <a:solidFill>
            <a:srgbClr val="FB7185">
              <a:alpha val="18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393192" y="37856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Balance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3192" y="40599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any single app at 30% txn volume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93192" y="43525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PhonePe + GPay = 85% today — risky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93192" y="4645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71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players = innovation &amp; safety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617720" y="3236976"/>
            <a:ext cx="4160520" cy="1737360"/>
          </a:xfrm>
          <a:prstGeom prst="rect">
            <a:avLst/>
          </a:prstGeom>
          <a:solidFill>
            <a:srgbClr val="1E3A52"/>
          </a:solidFill>
          <a:ln/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17720" y="3236976"/>
            <a:ext cx="4160520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0" name="Shape 38"/>
          <p:cNvSpPr/>
          <p:nvPr/>
        </p:nvSpPr>
        <p:spPr>
          <a:xfrm>
            <a:off x="4736592" y="3328416"/>
            <a:ext cx="420624" cy="420624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41" name="Text 39"/>
          <p:cNvSpPr/>
          <p:nvPr/>
        </p:nvSpPr>
        <p:spPr>
          <a:xfrm>
            <a:off x="4736592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39512" y="33467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AI-Driven Security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4736592" y="3785616"/>
            <a:ext cx="1737360" cy="201168"/>
          </a:xfrm>
          <a:prstGeom prst="rect">
            <a:avLst/>
          </a:prstGeom>
          <a:solidFill>
            <a:srgbClr val="A78BFA">
              <a:alpha val="18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4736592" y="3785616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Protection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36592" y="40599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biometrics — detects imposters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736592" y="43525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unusual amount, location &amp; device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736592" y="4645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 </a:t>
            </a:r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3-layer MFA: device + PIN + biometric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74320" y="4873752"/>
            <a:ext cx="8595360" cy="237744"/>
          </a:xfrm>
          <a:prstGeom prst="rect">
            <a:avLst/>
          </a:prstGeom>
          <a:solidFill>
            <a:srgbClr val="008B82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487375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 self-healing, secure, decentralized &amp; competitive UPI — built for India's next billion users 🇮🇳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7955280" y="4846320"/>
            <a:ext cx="1005840" cy="256032"/>
          </a:xfrm>
          <a:prstGeom prst="rect">
            <a:avLst/>
          </a:prstGeom>
          <a:solidFill>
            <a:srgbClr val="00C6B8"/>
          </a:solidFill>
          <a:ln/>
        </p:spPr>
      </p:sp>
      <p:sp>
        <p:nvSpPr>
          <p:cNvPr id="51" name="Text 49"/>
          <p:cNvSpPr/>
          <p:nvPr/>
        </p:nvSpPr>
        <p:spPr>
          <a:xfrm>
            <a:off x="7955280" y="4846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8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6B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4114800" cy="4114800"/>
          </a:xfrm>
          <a:prstGeom prst="ellipse">
            <a:avLst/>
          </a:prstGeom>
          <a:solidFill>
            <a:srgbClr val="00C6B8">
              <a:alpha val="12000"/>
            </a:srgbClr>
          </a:solidFill>
          <a:ln w="12700">
            <a:solidFill>
              <a:srgbClr val="00C6B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75120" y="-274320"/>
            <a:ext cx="2743200" cy="2743200"/>
          </a:xfrm>
          <a:prstGeom prst="ellipse">
            <a:avLst/>
          </a:prstGeom>
          <a:solidFill>
            <a:srgbClr val="00C6B8">
              <a:alpha val="18000"/>
            </a:srgbClr>
          </a:solidFill>
          <a:ln w="12700">
            <a:solidFill>
              <a:srgbClr val="00C6B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548640" y="3474720"/>
            <a:ext cx="2011680" cy="2011680"/>
          </a:xfrm>
          <a:prstGeom prst="ellipse">
            <a:avLst/>
          </a:prstGeom>
          <a:solidFill>
            <a:srgbClr val="FFB830">
              <a:alpha val="12000"/>
            </a:srgbClr>
          </a:solidFill>
          <a:ln w="12700">
            <a:solidFill>
              <a:srgbClr val="FFB830">
                <a:alpha val="3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7" name="Shape 5"/>
          <p:cNvSpPr/>
          <p:nvPr/>
        </p:nvSpPr>
        <p:spPr>
          <a:xfrm>
            <a:off x="2286000" y="2788920"/>
            <a:ext cx="4572000" cy="64008"/>
          </a:xfrm>
          <a:prstGeom prst="rect">
            <a:avLst/>
          </a:prstGeom>
          <a:solidFill>
            <a:srgbClr val="FFB830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0" y="4846320"/>
            <a:ext cx="1005840" cy="256032"/>
          </a:xfrm>
          <a:prstGeom prst="rect">
            <a:avLst/>
          </a:prstGeom>
          <a:solidFill>
            <a:srgbClr val="00C6B8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4846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9 /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Fintech Ecosystem</dc:title>
  <dc:subject>PptxGenJS Presentation</dc:subject>
  <dc:creator>Lakshmi Prasanna Bejjipurapu</dc:creator>
  <cp:lastModifiedBy>Lakshmi Prasanna Bejjipurapu</cp:lastModifiedBy>
  <cp:revision>1</cp:revision>
  <dcterms:created xsi:type="dcterms:W3CDTF">2026-03-13T17:21:47Z</dcterms:created>
  <dcterms:modified xsi:type="dcterms:W3CDTF">2026-03-13T17:21:47Z</dcterms:modified>
</cp:coreProperties>
</file>